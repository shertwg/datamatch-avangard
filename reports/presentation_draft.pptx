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«Клубу нужно знать спрос по зонам до открытия продаж, чтобы планировать цены. Поэтому мы честно имитируем момент прогноза: используем только то, что было известно на 15 декабря».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«Самая интересная зона — шестая: места есть, а продаётся меньше 40%. Цен в данных нет, поэтому объяснить это мы не можем, но клубу стоит на неё посмотреть».</a:t>
            </a:r>
          </a:p>
          <a:p/>
          <a:p>
            <a:r>
              <a:t>На графике — средняя заполняемость по зонам (среднее, не медиана).</a:t>
            </a:r>
          </a:p>
          <a:p/>
          <a:p>
            <a:r>
              <a:t>Источники: solution.ipynb → Данные; 01_eda.ipynb (места и абонементы по зонам); 04_report.ipynb → 2.0 (заполняемость), → 1.1 (среднее по месяцам).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«Первая дата — тот же момент календаря, что и сейчас, вторая — ровно 17 матчей до конца сезона, как в задаче, третья — текущий сезон. Если модель хорошо работает на всех трёх, ей можно доверять на реальном прогнозе».</a:t>
            </a:r>
          </a:p>
          <a:p/>
          <a:p>
            <a:r>
              <a:t>Источник: src/validation.py (докстринг); 04_report.ipynb → 2.5.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«Модель предсказывает не итог целиком, а сколько ещё продастся сверх уже проданного. Для матчей, которые уже в продаже, отдельная модель учитывает, сколько осталось свободных мест».</a:t>
            </a:r>
          </a:p>
          <a:p/>
          <a:p>
            <a:r>
              <a:t>Если спросят про абляции: «Без календаря RMSE 121,0, без соперника 124,1 — разница меньше погрешности валидации, поэтому мы не делаем вывод, что эти признаки не нужны».</a:t>
            </a:r>
          </a:p>
          <a:p/>
          <a:p>
            <a:r>
              <a:t>Цифры абляций: без продаж на дату 299,3; без истории соперника 124,1; без КХЛ 122,5; без календаря 121,0 (при полной модели 124,7). Масштаб погрешности — бутстрэп со слайда 5: 95% ДИ разницы CatBoost − умный baseline шириной около 20 билетов (от −20,4 до −0,1), а изменения RMSE в абляциях без соперника, КХЛ и календаря — 0,5–3,7, то есть заметно меньше. Отдельного бутстрэпа для абляций нет.</a:t>
            </a:r>
          </a:p>
          <a:p/>
          <a:p>
            <a:r>
              <a:t>Источники: src/baseline.py, src/model.py (докстринг), 03_model.ipynb → Абляции.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«Мы сравнили с двумя ориентирами, а не с одним: обойти простое среднее легко, а умный baseline уже учитывает текущий сезон и проданное. Чтобы не выдавать удачу за качество, мы 2 000 раз пересобрали проверку из тех же 43 матчей. Простое среднее CatBoost обходит уверенно. Умный baseline — тоже почти всегда, но верхняя граница интервала почти касается нуля: на 43 матчах это на грани значимости, и мы так и говорим».</a:t>
            </a:r>
          </a:p>
          <a:p/>
          <a:p>
            <a:r>
              <a:t>Как считали: бутстрэп по матчам, а не по строкам (8 зон матча всегда вместе), 2 000 повторов, random_state = 42, по прогнозам валидации из reports/cache/; модели не переобучались. 95% ДИ — перцентили 2,5 и 97,5.</a:t>
            </a:r>
          </a:p>
          <a:p/>
          <a:p>
            <a:r>
              <a:t>Бизнес-метрики на матч целиком (сумма 8 зон, 43 матча проверки; baseline / умный baseline / CatBoost):</a:t>
            </a:r>
          </a:p>
          <a:p>
            <a:r>
              <a:t>RMSE на матч: 450,9 / 519,4 / 447,5 билета</a:t>
            </a:r>
          </a:p>
          <a:p>
            <a:r>
              <a:t>MAE на матч: 374,3 / 457,6 / 377,5 билета</a:t>
            </a:r>
          </a:p>
          <a:p>
            <a:r>
              <a:t>Ошибка в % вместимости матча: 5,3 / 6,5 / 5,3</a:t>
            </a:r>
          </a:p>
          <a:p>
            <a:r>
              <a:t>WAPE по матчам: 7,7% / 9,4% / 7,8%</a:t>
            </a:r>
          </a:p>
          <a:p>
            <a:r>
              <a:t>WAPE по строкам матч × зона: 16,0% / 14,7% / 13,2%</a:t>
            </a:r>
          </a:p>
          <a:p>
            <a:r>
              <a:t>Средний bias на матч (прогноз − факт): −177,6 / −330,4 / −217,3</a:t>
            </a:r>
          </a:p>
          <a:p>
            <a:r>
              <a:t>«На матч целиком CatBoost не точнее простого среднего: общий спрос на матч задаёт уровень сезона. Выигрыш модели — в том, как она раскладывает спрос по зонам».</a:t>
            </a:r>
          </a:p>
          <a:p/>
          <a:p>
            <a:r>
              <a:t>Источники: solution.ipynb → Валидация; 04_report.ipynb → 2.1, → Часть 3. Значимость выигрыша, → 4.5 (бизнес-метрики).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«Честно показываем, где модель не выигрывает: в зонах 5 и 7. Дальше объясним, почему».</a:t>
            </a:r>
          </a:p>
          <a:p/>
          <a:p>
            <a:r>
              <a:t>RMSE по зонам (baseline / умный baseline / CatBoost):</a:t>
            </a:r>
          </a:p>
          <a:p>
            <a:r>
              <a:t>Зона 1: 41,6 / 36,8 / 26,2</a:t>
            </a:r>
          </a:p>
          <a:p>
            <a:r>
              <a:t>Зона 2: 38,4 / 28,9 / 26,2</a:t>
            </a:r>
          </a:p>
          <a:p>
            <a:r>
              <a:t>Зона 3: 63,3 / 59,1 / 53,1</a:t>
            </a:r>
          </a:p>
          <a:p>
            <a:r>
              <a:t>Зона 4: 164,3 / 139,0 / 119,6</a:t>
            </a:r>
          </a:p>
          <a:p>
            <a:r>
              <a:t>Зона 5: 109,4 / 119,5 / 117,5</a:t>
            </a:r>
          </a:p>
          <a:p>
            <a:r>
              <a:t>Зона 6: 257,0 / 225,7 / 202,6</a:t>
            </a:r>
          </a:p>
          <a:p>
            <a:r>
              <a:t>Зона 7: 208,5 / 228,4 / 218,8</a:t>
            </a:r>
          </a:p>
          <a:p>
            <a:r>
              <a:t>Зона 8: 58,8 / 62,2 / 55,5</a:t>
            </a:r>
          </a:p>
          <a:p/>
          <a:p>
            <a:r>
              <a:t>Источники: 03_model.ipynb → По зонам; 04_report.ipynb → 0 (RMSE по зонам),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«Точки далеко от диагонали — почти все из зон 6 и 7. Это не случайный шум, а перераспределение зрителей между соседними секторами. Без цен и схемы зала мы его объяснить не можем».</a:t>
            </a:r>
          </a:p>
          <a:p/>
          <a:p>
            <a:r>
              <a:t>На графике: выбросы над и под диагональю — светлые точки зон 6 и 7; в заголовке RMSE 124,7 и корреляция 0,85.</a:t>
            </a:r>
          </a:p>
          <a:p/>
          <a:p>
            <a:r>
              <a:t>Источники: 03_model.ipynb → Разбор ошибок, → Матчи в продаже; 04_report.ipynb → 2.6 (общее смещение −27,2).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«Задание просит разбор по соперникам и дням недели. Мы его сделали, но честно говорим: 43 матча на проверке слишком мало, чтобы утверждать “с Сибирью модель ошибается сильнее”. Видно одно: большие промахи — это всё те же зоны 6 и 7».</a:t>
            </a:r>
          </a:p>
          <a:p/>
          <a:p>
            <a:r>
              <a:t>Таблица по соперникам — в 04_report.ipynb → 2.6, показать по вопросу.</a:t>
            </a:r>
          </a:p>
          <a:p/>
          <a:p>
            <a:r>
              <a:t>Источник: 04_report.ipynb → 2.6 (таблицы по дням недели и соперникам, разбор четверга).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Новогодние матчи 26–30.12 (Металлург Мг, Лада, Барыс) — ранний спрос, как в прошлые Новые годы. Продано уже 51–59% мест, в 1,6–2,1 раза быстрее обычного матча. Но прошлые новогодние матчи к той же дате были проданы на 58–68% (4 из 5) и закончили на 66–72%: спрос приходит раньше, но не больше. В этом году к той же дате продано меньше, чем в прошлые Новые годы. По новогодней кривой итог был бы 56–63%, модель ставит 73–77% — она учитывает, что сезон 2025/26 в целом заполненнее (70% против 63–66%). Аналогия построена на 5 матчах, поэтому риск отклонения в обе стороны, скорее в сторону переоценки. Прогноз модели не правили, чтобы не подгонять под 5 матчей.</a:t>
            </a:r>
          </a:p>
          <a:p/>
          <a:p>
            <a:r>
              <a:t>Прошлые Новые годы (продано к той же дате, за 11–15 дней до матча, как у M087–M089 на 15.12 | итог):</a:t>
            </a:r>
          </a:p>
          <a:p>
            <a:r>
              <a:t>M023, 24.12.2023: 58–62% | 70%</a:t>
            </a:r>
          </a:p>
          <a:p>
            <a:r>
              <a:t>M024, 03.01.2024: 64–68% | 72%</a:t>
            </a:r>
          </a:p>
          <a:p>
            <a:r>
              <a:t>M025, 06.01.2024: 62–66% | 71%</a:t>
            </a:r>
          </a:p>
          <a:p>
            <a:r>
              <a:t>M055, 28.12.2024: 39–48% | 70%</a:t>
            </a:r>
          </a:p>
          <a:p>
            <a:r>
              <a:t>M056, 30.12.2024: 60–62% | 66%</a:t>
            </a:r>
          </a:p>
          <a:p>
            <a:r>
              <a:t>2025/26, M087–M089: 51–59% | прогноз 73–77%</a:t>
            </a:r>
          </a:p>
          <a:p/>
          <a:p>
            <a:r>
              <a:t>Ни один матч и ни одна зона не выходят за исторические пределы и не упираются в число свободных мест.</a:t>
            </a:r>
          </a:p>
          <a:p/>
          <a:p>
            <a:r>
              <a:t>«На новогодние матчи уже продано больше половины мест, и наши флаги на это срабатывают: обычный матч к этому дню продан вдвое меньше. Но прошлые Новые годы показывают, что это ранний спрос, а не больший: к той же дате четыре из пяти были проданы даже сильнее, чем сейчас, и все и закончили на 66–72%. Модель ставит выше, потому что сезон в целом заполненнее. Мы её не правили вручную — пять матчей слишком мало, чтобы подгонять под них прогноз, — но если ошибёмся, то скорее вверх».</a:t>
            </a:r>
          </a:p>
          <a:p/>
          <a:p>
            <a:r>
              <a:t>На графике: столбик — уже продано на 15.12, точка — прогноз CatBoost, отрезок — интервал 10–90% на матч; жирные даты — матчи в продаже. Интервал на матч — сумма зональных интервалов (квантили 10/90% остатков CatBoost на валидации по группам зон {1,2,8} / {3,4,5} / {6,7} и статусу продаж). Честная проверка leave-one-fold-out: накрыл 38 из 43 матчей (88%) при номинале 80%. Ширина — 35% прогноза у матчей в продаже, 42% у остальных. Прямой интервал по остатку суммы матча вдвое уже, но накрыл только 26 из 43 (60%): не учитывает межсезонный сдвиг. Зональные интервалы — ориентир: покрытие 69% при номинале 80%. «71–105 тыс.» — сумма нижних и верхних границ по 17 матчам. График без интервалов, с линией среднего сезона — reports/figures/04_test_forecast.png, показать по вопросу.</a:t>
            </a:r>
          </a:p>
          <a:p/>
          <a:p>
            <a:r>
              <a:t>Источники: solution.ipynb → Сохранение (сумма); 04_report.ipynb → 1.1 (среднее сезона), 1.2 (темп и проданное), 1.3, 1.4 (флаги и пояснение), 1.5 (прошлые Новые годы), 2.4, 4.3–4.4 (интервалы).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«Календарь и соперник, по нашим данным, влияют на спрос слабее, чем принято думать: их вклад в пределах погрешности проверки. Самая полезная информация — как продаются билеты прямо сейчас. Поэтому главное, что мы предлагаем клубу, — не разовый прогноз, а прогноз, который обновляется вместе с продажами».</a:t>
            </a:r>
          </a:p>
          <a:p/>
          <a:p>
            <a:r>
              <a:t>Источник по признакам темпа: 03_model → Вывод: новогодние матчи и признак темпа. Смещение по датам проверки: 04_report → 4.5.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r>
              <a:rPr sz="4400" b="1">
                <a:solidFill>
                  <a:srgbClr val="B5121B"/>
                </a:solidFill>
                <a:latin typeface="Calibri"/>
              </a:rPr>
              <a:t>Прогноз спроса на домашние матчи «Авангарда»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600" b="0">
                <a:solidFill>
                  <a:srgbClr val="1F1F1F"/>
                </a:solidFill>
                <a:latin typeface="Calibri"/>
              </a:rPr>
              <a:t>DataMatch, технический трек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>
                <a:solidFill>
                  <a:srgbClr val="595959"/>
                </a:solidFill>
                <a:latin typeface="Calibri"/>
              </a:rPr>
              <a:t>Команда «shertwg»: augustteske · sharbl4 (Антон) · ArinaPig (Арина) · Алиса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Задача и метрика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656649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Прогнозируем, сколько разовых билетов продастся на каждый из 17 оставшихся домашних матчей сезона 2025/26 в каждой из 8 ценовых зон: 136 прогнозов.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Прогноз — итог за всё время продаж. Дата отсечки 15.12.2025: на 6 матчей продажи уже идут, на 11 ещё не открыты.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Метрика — RMSE в билетах на зону. Ориентир — базовый прогноз: среднее по зоне за прошлые матчи.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Ограничения: прогноз не меньше уже проданного и не больше свободных мест (места зоны минус абонементы).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53929" y="1943100"/>
            <a:ext cx="3889126" cy="1737360"/>
          </a:xfrm>
          <a:prstGeom prst="roundRect">
            <a:avLst>
              <a:gd name="adj" fmla="val 8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B5121B"/>
                </a:solidFill>
                <a:latin typeface="Calibri"/>
              </a:rPr>
              <a:t>17 × 8 = 136</a:t>
            </a:r>
          </a:p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прогнозов: матч × зона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53929" y="3954780"/>
            <a:ext cx="3889126" cy="1737360"/>
          </a:xfrm>
          <a:prstGeom prst="roundRect">
            <a:avLst>
              <a:gd name="adj" fmla="val 8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B5121B"/>
                </a:solidFill>
                <a:latin typeface="Calibri"/>
              </a:rPr>
              <a:t>RMSE</a:t>
            </a:r>
          </a:p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метрика, билетов на зону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Данные и что мы в них увидели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102 домашних матча за 3 сезона: 85 сыгранных (02.09.2023–07.12.2025) для обучения и 17 для прогноза; 23 039 строк продаж по дням и зонам.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Абонементы заметно сокращают свободные места: в зоне 1 из 1 141 места абонементами занято в среднем 545.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Зоны заполняются очень по-разному: зоны 1, 2 и 8 — на 78–81%, а зона 6 — только на 39%, хотя свободных мест в ней столько же, сколько в зоне 7 (≈1 248), а та заполняется на 63%.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Сезонность: в декабре прошлых сезонов в среднем 4 297 билетов за матч, в январе–феврале 4 889–4 936.</a:t>
            </a:r>
          </a:p>
        </p:txBody>
      </p:sp>
      <p:pic>
        <p:nvPicPr>
          <p:cNvPr id="4" name="Picture 3" descr="00_fill_by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782" y="3733800"/>
            <a:ext cx="6304129" cy="2666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Проверка без утечек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Валидация повторяет реальную ситуацию: выбираем дату «псевдо-сегодня» в прошлом, учимся только на сыгранных до неё матчах и прогнозируем следующие.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3 таких даты: 15.12.2023 (обучение на 20 матчах, проверка на 14), 25.11.2024 (51 → 17), 20.09.2025 (73 → 12). Всего 43 матча на проверке.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Все признаки, включая продажи, результаты КХЛ и средние по соперникам, считаются только по данным до даты прогноза. Случайного перемешивания строк нет.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Все модели сравниваются по одним правилам: тот же клиппинг (не меньше проданного, не больше свободных мест) и округление.</a:t>
            </a:r>
          </a:p>
        </p:txBody>
      </p:sp>
      <p:pic>
        <p:nvPicPr>
          <p:cNvPr id="4" name="Picture 3" descr="05_validation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940" y="4008120"/>
            <a:ext cx="7269814" cy="2392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Подход: модель и 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Два ориентира: baseline из задания (среднее по зоне за все прошлые матчи) и «умный baseline» — среднее по зоне за текущий сезон, не ниже уже проданного.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Модель — CatBoost. Каждый сыгранный матч мы превращаем в несколько «снимков» продаж: за 1, 3, …, 40 дней до игры, плюс снимок «продажи ещё не открыты». Так модель учится и на матчах в продаже, и на ещё не открытых.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Признаки: уровень зоны в сезоне и за последние 5 матчей; продажи на дату (продано, за 7 и 14 дней, темп относительно типичной кривой продаж); календарь (день недели, час, месяц); соперник (история продаж с ним в Омске, его сила в КХЛ); форма «Авангарда».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Главный вклад дают продажи на дату: без них RMSE вырастает до 299,3. Вклад календаря и соперника в пределах погрешности валидации.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747260"/>
            <a:ext cx="3240938" cy="1463040"/>
          </a:xfrm>
          <a:prstGeom prst="roundRect">
            <a:avLst>
              <a:gd name="adj" fmla="val 10000"/>
            </a:avLst>
          </a:prstGeom>
          <a:solidFill>
            <a:srgbClr val="F5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B5121B"/>
                </a:solidFill>
                <a:latin typeface="Calibri"/>
              </a:rPr>
              <a:t>Снимки продаж</a:t>
            </a:r>
          </a:p>
          <a:p>
            <a:pPr algn="ctr"/>
            <a:r>
              <a:rPr sz="1800" b="0">
                <a:solidFill>
                  <a:srgbClr val="1F1F1F"/>
                </a:solidFill>
                <a:latin typeface="Calibri"/>
              </a:rPr>
              <a:t>за 1, 3, …, 40 дней до игры + «продажи не открыты»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81018" y="5277612"/>
            <a:ext cx="502920" cy="402336"/>
          </a:xfrm>
          <a:prstGeom prst="rightArrow">
            <a:avLst/>
          </a:prstGeom>
          <a:solidFill>
            <a:srgbClr val="B5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5378" y="4747260"/>
            <a:ext cx="3240938" cy="1463040"/>
          </a:xfrm>
          <a:prstGeom prst="roundRect">
            <a:avLst>
              <a:gd name="adj" fmla="val 10000"/>
            </a:avLst>
          </a:prstGeom>
          <a:solidFill>
            <a:srgbClr val="F5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B5121B"/>
                </a:solidFill>
                <a:latin typeface="Calibri"/>
              </a:rPr>
              <a:t>Две модели CatBoost</a:t>
            </a:r>
          </a:p>
          <a:p>
            <a:pPr algn="ctr"/>
            <a:r>
              <a:rPr sz="1800" b="0">
                <a:solidFill>
                  <a:srgbClr val="1F1F1F"/>
                </a:solidFill>
                <a:latin typeface="Calibri"/>
              </a:rPr>
              <a:t>матч не в продаже / матч в продаже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07756" y="5277612"/>
            <a:ext cx="502920" cy="402336"/>
          </a:xfrm>
          <a:prstGeom prst="rightArrow">
            <a:avLst/>
          </a:prstGeom>
          <a:solidFill>
            <a:srgbClr val="B5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02116" y="4747260"/>
            <a:ext cx="3240938" cy="1463040"/>
          </a:xfrm>
          <a:prstGeom prst="roundRect">
            <a:avLst>
              <a:gd name="adj" fmla="val 10000"/>
            </a:avLst>
          </a:prstGeom>
          <a:solidFill>
            <a:srgbClr val="F5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B5121B"/>
                </a:solidFill>
                <a:latin typeface="Calibri"/>
              </a:rPr>
              <a:t>Клиппинг</a:t>
            </a:r>
          </a:p>
          <a:p>
            <a:pPr algn="ctr"/>
            <a:r>
              <a:rPr sz="1800" b="0">
                <a:solidFill>
                  <a:srgbClr val="1F1F1F"/>
                </a:solidFill>
                <a:latin typeface="Calibri"/>
              </a:rPr>
              <a:t>[уже продано; свободные места]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Результат: CatBoost точнее baseline на 12%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RMSE на проверке: CatBoost 124,7, умный baseline 135,2, baseline из задания 141,0 (билетов на зону).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 датам прогноза: 163,3 / 83,1 / 121,6 против baseline 172,2 / 103,0 / 147,2. CatBoost лучше baseline из задания на всех трёх датах; умный baseline обходит его только на дате 25.11.2024 (79,1 против 83,1).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Против baseline из задания выигрыш надёжный: в среднем −16,4 билета на зону, 95% ДИ от −25,5 до −7,2; CatBoost лучше в 1 999 из 2 000 повторов бутстрэпа.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Против умного baseline выигрыш есть, но на грани статистической значимости на 43 матчах: −10,5 билета, 95% ДИ от −20,4 до −0,1; CatBoost лучше в 1 953 из 2 000 повторов (≈98%).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На матч целиком CatBoost на уровне простого среднего (RMSE 447,5 против 450,9 билета на матч); выигрыш — в распределении по зонам (WAPE по строкам 13,2% против 16,0%).</a:t>
            </a:r>
          </a:p>
        </p:txBody>
      </p:sp>
      <p:pic>
        <p:nvPicPr>
          <p:cNvPr id="4" name="Picture 3" descr="01_rms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84039"/>
            <a:ext cx="3700656" cy="2016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15056" y="4740147"/>
          <a:ext cx="7027996" cy="1304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36390"/>
                <a:gridCol w="1177162"/>
                <a:gridCol w="1604977"/>
                <a:gridCol w="1809467"/>
              </a:tblGrid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CatBoost минус…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Разница RMSE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95% ДИ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CatBoost лучше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</a:tr>
              <a:tr h="3535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baseline из задания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−16,4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−25,5 … −7,2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1 999 из 2 000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умный baseline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−10,5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−20,4 … −0,1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1 953 из 2 000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Точность по зонам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CatBoost лучше baseline в 6 зонах из 8. Сильнее всего в зонах 4 (119,6 против 164,3) и 6 (202,6 против 257,0).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 дорогих зонах 1–3 и в зоне 8 ошибка небольшая: 26–55 билетов.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Хуже baseline в зонах 5 (117,5 против 109,4) и 7 (218,8 против 208,5).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Почти вся ошибка сосредоточена в массовых зонах 6 и 7: RMSE 203 и 219.</a:t>
            </a:r>
          </a:p>
        </p:txBody>
      </p:sp>
      <p:pic>
        <p:nvPicPr>
          <p:cNvPr id="4" name="Picture 3" descr="02_rmse_by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80" y="2910840"/>
            <a:ext cx="6311534" cy="3489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Разбор ошибок: 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76909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Самые крупные промахи — в зонах 6 и 7. Спрос между ними «переключается»: на одних матчах зона 6 продаёт около 1 000 билетов, а зона 7 около 350, на других наоборот (например, M029–M032).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До открытия продаж такое переключение по нашим данным почти не предсказать. Когда продажи идут, модель видит его по уже проданному, поэтому на матчах в продаже ошибка 105,8, а на ещё не открытых 132,0.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Модель в среднем немного занижает: на 27 билетов на зону. Сильнее всего в зонах 4 и 5 (−73 и −79).</a:t>
            </a:r>
          </a:p>
        </p:txBody>
      </p:sp>
      <p:pic>
        <p:nvPicPr>
          <p:cNvPr id="4" name="Picture 3" descr="03_fact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935" y="1557421"/>
            <a:ext cx="4868119" cy="4520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Разбор ошибок: дни недели и соперники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 дням недели CatBoost лучше baseline каждый день. Сильнее всего ошибаемся по четвергам (RMSE 166), меньше всего по пятницам (95).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Четверг выделяется не из-за дня недели. Ошибку дают 3 матча из 6 (M030, M034, M084), и 64% её приходится на зоны 6 и 7 — то самое переключение спроса со слайда 7.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Модель занижает во все 7 дней недели: прогноз осторожный, а не перекошенный в какой-то день.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 соперникам выводов не делаем: с каждым соперником на проверке было 1–5 матчей, у 13 соперников из 20 меньше трёх. Отдельные высокие ошибки (Сибирь 237, Спартак 195) — это 1–2 конкретных матча.</a:t>
            </a:r>
          </a:p>
        </p:txBody>
      </p:sp>
      <p:pic>
        <p:nvPicPr>
          <p:cNvPr id="4" name="Picture 3" descr="06_errors_week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280" y="3733800"/>
            <a:ext cx="5581135" cy="2666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Прогноз на 17 матчей и новогодние матчи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Прогноз на 17 матчей — 85 631 билет (5,0 тыс. за матч, +5% к сыгранной части сезона, 4 797); уже продано 16 106 на 6 матчей.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Интервал на матч откалиброван на валидации (накрыл 38 из 43 матчей); по 17 матчам 71–105 тыс. билетов при прогнозе 85,6 тыс.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Новогодние матчи 26–30.12 продаются раньше, но не больше: прошлые Новые годы закончили на 66–72% мест, модель ставит 73–77% — риск скорее в сторону переоценки.</a:t>
            </a:r>
          </a:p>
        </p:txBody>
      </p:sp>
      <p:pic>
        <p:nvPicPr>
          <p:cNvPr id="4" name="Picture 3" descr="07_test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08" y="3357880"/>
            <a:ext cx="5838878" cy="304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Выводы и рекомендации клубу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94415" cy="1055217"/>
          </a:xfrm>
          <a:prstGeom prst="roundRect">
            <a:avLst>
              <a:gd name="adj" fmla="val 9358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Что сильнее всего определяет итог — темп уже начавшихся продаж.</a:t>
            </a:r>
            <a:r>
              <a:rPr sz="1800" b="0">
                <a:solidFill>
                  <a:srgbClr val="1F1F1F"/>
                </a:solidFill>
                <a:latin typeface="Calibri"/>
              </a:rPr>
              <a:t> Без него ошибка растёт с 125 до 299. Рекомендация: пересчитывать прогноз каждую неделю по свежим продажам, особенно после открытия продаж на матч.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99385"/>
            <a:ext cx="11094415" cy="1055217"/>
          </a:xfrm>
          <a:prstGeom prst="roundRect">
            <a:avLst>
              <a:gd name="adj" fmla="val 9358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Новогодние матчи 26–30.12 — ранний спрос, а не аншлаг.</a:t>
            </a:r>
            <a:r>
              <a:rPr sz="1800" b="0">
                <a:solidFill>
                  <a:srgbClr val="1F1F1F"/>
                </a:solidFill>
                <a:latin typeface="Calibri"/>
              </a:rPr>
              <a:t> Продажи идут в 1,6–2,1 раза быстрее обычного, но так было и в прошлые Новые годы, а закончили они на 66–72% мест. Ориентир — прошлые Новые годы, а не темп первых недель; стоит следить за остатком мест и обновлять прогноз по свежим продажам.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4331"/>
            <a:ext cx="11094415" cy="780897"/>
          </a:xfrm>
          <a:prstGeom prst="roundRect">
            <a:avLst>
              <a:gd name="adj" fmla="val 12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Признаки темпа продаж проверили:</a:t>
            </a:r>
            <a:r>
              <a:rPr sz="1800" b="0">
                <a:solidFill>
                  <a:srgbClr val="1F1F1F"/>
                </a:solidFill>
                <a:latin typeface="Calibri"/>
              </a:rPr>
              <a:t> 3 варианта дают RMSE 122,6–124,6 против 124,7 у финальной модели, это в пределах шума (±3). Прогноз на новогодние матчи не меняется. Модель оставили без изменений.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54956"/>
            <a:ext cx="11094415" cy="1055217"/>
          </a:xfrm>
          <a:prstGeom prst="roundRect">
            <a:avLst>
              <a:gd name="adj" fmla="val 9358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Зона 6 — резерв выручки.</a:t>
            </a:r>
            <a:r>
              <a:rPr sz="1800" b="0">
                <a:solidFill>
                  <a:srgbClr val="1F1F1F"/>
                </a:solidFill>
                <a:latin typeface="Calibri"/>
              </a:rPr>
              <a:t> Заполняемость 39% при таком же числе свободных мест, как в зоне 7 (63%), а спрос между зонами 6 и 7 переключается от матча к матчу. Стоит проверить цену и позиционирование зоны 6 (цен в наших данных нет, это гипотеза для клуба).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19902"/>
            <a:ext cx="11094415" cy="780897"/>
          </a:xfrm>
          <a:prstGeom prst="roundRect">
            <a:avLst>
              <a:gd name="adj" fmla="val 12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Все модели в среднем занижают, но знак смещения меняется от сезона к сезону</a:t>
            </a:r>
            <a:r>
              <a:rPr sz="1800" b="0">
                <a:solidFill>
                  <a:srgbClr val="1F1F1F"/>
                </a:solidFill>
                <a:latin typeface="Calibri"/>
              </a:rPr>
              <a:t> (у CatBoost +76, −364 и −352 билета на матч по трём датам проверки), поэтому поправку не вводим.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